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69" r:id="rId20"/>
    <p:sldId id="270" r:id="rId21"/>
    <p:sldId id="271" r:id="rId22"/>
    <p:sldId id="272" r:id="rId23"/>
    <p:sldId id="273" r:id="rId24"/>
    <p:sldId id="274" r:id="rId25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3.xml"/><Relationship Id="rId21" Type="http://schemas.openxmlformats.org/officeDocument/2006/relationships/slide" Target="slides/slide4.xml"/><Relationship Id="rId22" Type="http://schemas.openxmlformats.org/officeDocument/2006/relationships/slide" Target="slides/slide5.xml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wyyy520/BikeDeman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基于共享单车数据的需求预测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646464"/>
                </a:solidFill>
              </a:defRPr>
            </a:pPr>
            <a:r>
              <a:t>特征构造 · 模型设计 · 误差分析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任务概述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</a:defRPr>
            </a:pPr>
            <a:r>
              <a:t>数据来源：深圳市政府数据开放平台 - 共享单车企业每日订单表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约300万条订单记录，2021年1月1日 - 2月2日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空间划分：0.01° x 0.01° 网格，选取订单量最大的30个网格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时间粒度：30分钟，聚合借车量与还车量，构建 [T, 60] 需求矩阵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预测目标：未来30分钟各网格的借还车量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开发过程：数据爬取</a:t>
            </a:r>
          </a:p>
        </p:txBody>
      </p:sp>
      <p:pic>
        <p:nvPicPr>
          <p:cNvPr id="3" name="Picture 2" descr="爬取300万数据集数据库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5029200" cy="2445101"/>
          </a:xfrm>
          <a:prstGeom prst="rect">
            <a:avLst/>
          </a:prstGeom>
        </p:spPr>
      </p:pic>
      <p:pic>
        <p:nvPicPr>
          <p:cNvPr id="4" name="Picture 3" descr="爬取完成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188720"/>
            <a:ext cx="5029200" cy="48609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35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6464"/>
                </a:solidFill>
              </a:defRPr>
            </a:pPr>
            <a:r>
              <a:t>通过API爬取约300万条订单数据存入SQLite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开发过程：环境配置</a:t>
            </a:r>
          </a:p>
        </p:txBody>
      </p:sp>
      <p:pic>
        <p:nvPicPr>
          <p:cNvPr id="3" name="Picture 2" descr="下载pyto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4114800" cy="4811316"/>
          </a:xfrm>
          <a:prstGeom prst="rect">
            <a:avLst/>
          </a:prstGeom>
        </p:spPr>
      </p:pic>
      <p:pic>
        <p:nvPicPr>
          <p:cNvPr id="4" name="Picture 3" descr="虚拟环境验证pyto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188720"/>
            <a:ext cx="5029200" cy="27639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35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6464"/>
                </a:solidFill>
              </a:defRPr>
            </a:pPr>
            <a:r>
              <a:t>PyTorch虚拟环境配置与CUDA验证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开发过程：空间网格划分</a:t>
            </a:r>
          </a:p>
        </p:txBody>
      </p:sp>
      <p:pic>
        <p:nvPicPr>
          <p:cNvPr id="3" name="Picture 2" descr="分区块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4114800" cy="467636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35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6464"/>
                </a:solidFill>
              </a:defRPr>
            </a:pPr>
            <a:r>
              <a:t>城市空间划分成0.01°×0.01°网格，筛选高需求区域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开发过程：Transformer首次训练</a:t>
            </a:r>
          </a:p>
        </p:txBody>
      </p:sp>
      <p:pic>
        <p:nvPicPr>
          <p:cNvPr id="3" name="Picture 2" descr="transformer第一次训练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3840480" cy="4337232"/>
          </a:xfrm>
          <a:prstGeom prst="rect">
            <a:avLst/>
          </a:prstGeom>
        </p:spPr>
      </p:pic>
      <p:pic>
        <p:nvPicPr>
          <p:cNvPr id="4" name="Picture 3" descr="transformer第一次训练结果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188720"/>
            <a:ext cx="3840480" cy="460755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开发过程：LSTM与调优</a:t>
            </a:r>
          </a:p>
        </p:txBody>
      </p:sp>
      <p:pic>
        <p:nvPicPr>
          <p:cNvPr id="3" name="Picture 2" descr="优化后的transfor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3840480" cy="4158039"/>
          </a:xfrm>
          <a:prstGeom prst="rect">
            <a:avLst/>
          </a:prstGeom>
        </p:spPr>
      </p:pic>
      <p:pic>
        <p:nvPicPr>
          <p:cNvPr id="4" name="Picture 3" descr="lstm第一次训练结果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188720"/>
            <a:ext cx="3840480" cy="46075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35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6464"/>
                </a:solidFill>
              </a:defRPr>
            </a:pPr>
            <a:r>
              <a:t>Transformer调优后 vs LSTM首次训练结果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开发过程：LSTM调优</a:t>
            </a:r>
          </a:p>
        </p:txBody>
      </p:sp>
      <p:pic>
        <p:nvPicPr>
          <p:cNvPr id="3" name="Picture 2" descr="优化后的lst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3840480" cy="41580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35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6464"/>
                </a:solidFill>
              </a:defRPr>
            </a:pPr>
            <a:r>
              <a:t>LSTM调优后训练曲线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数据特征：时间分布（1/5）</a:t>
            </a:r>
          </a:p>
        </p:txBody>
      </p:sp>
      <p:pic>
        <p:nvPicPr>
          <p:cNvPr id="3" name="Picture 2" descr="daily_or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9601200" cy="34137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数据特征：高量段日内双峰（2/5）</a:t>
            </a:r>
          </a:p>
        </p:txBody>
      </p:sp>
      <p:pic>
        <p:nvPicPr>
          <p:cNvPr id="3" name="Picture 2" descr="high_volume_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9601200" cy="34137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特征构造方法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t>需求特征：过去24小时（48步）30网格借/还车量，共 48 × 60 = 2880 维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滞后特征：前一日同时刻（lag=48）借/还车量，共60维 → 显式提供previous-day信号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时间周期特征（5维）：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日内正弦/余弦：sin(2πt/48), cos(2πt/48)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周内正弦/余弦：sin(2πd/7), cos(2πd/7)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周末二值标记：周六日=1，其余=0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标准化：训练集上z-score，避免数据泄露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输出：未来30分钟60维需求向量（借车30 + 还车30）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训练集与测试集划分（按日期）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</a:defRPr>
            </a:pPr>
            <a:r>
              <a:t>发现数据分布严重不均匀（前29天几乎无订单），改为按日期划分：</a:t>
            </a:r>
          </a:p>
          <a:p>
            <a:pPr>
              <a:defRPr sz="1000">
                <a:solidFill>
                  <a:srgbClr val="333333"/>
                </a:solidFill>
              </a:defRPr>
            </a:pP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训练集：2021-01-30 13:00 — 2021-01-31 20:00（高量段）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验证集：2021-01-31 20:00 — 2021-02-01 04:00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测试集：2021-02-01 04:00 — 2021-02-02 14:00</a:t>
            </a:r>
          </a:p>
          <a:p>
            <a:pPr>
              <a:defRPr sz="1000">
                <a:solidFill>
                  <a:srgbClr val="333333"/>
                </a:solidFill>
              </a:defRPr>
            </a:pP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lookback = 48（过去24小时） → 预测 horizon = 1（未来30分钟）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模型架构：Transformer + 残差学习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</a:defRPr>
            </a:pPr>
            <a:r>
              <a:t>核心设计：预测目标 = 需求 - 前一日同时刻需求（残差），评估时加回基线还原</a:t>
            </a:r>
          </a:p>
          <a:p>
            <a:pPr>
              <a:defRPr sz="1000">
                <a:solidFill>
                  <a:srgbClr val="333333"/>
                </a:solidFill>
              </a:defRPr>
            </a:pP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输入投影：Linear(2945 → d_model=64) + LayerNorm + 正弦位置编码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时间编码器：2层TransformerEncoder，nhead=4，FFN=128，norm_first=True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输出头：LayerNorm + Linear(d_model → 60)，取最后时间步输出</a:t>
            </a:r>
          </a:p>
          <a:p>
            <a:pPr>
              <a:defRPr sz="1000">
                <a:solidFill>
                  <a:srgbClr val="333333"/>
                </a:solidFill>
              </a:defRPr>
            </a:pP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残差学习使模型从previous-day水平出发学习修正量，稳定训练过程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评价指标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</a:defRPr>
            </a:pPr>
            <a:r>
              <a:t>MAE（平均绝对误差）：对异常值不敏感，直观反映平均偏差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RMSE（均方根误差）：对大误差敏感，反映峰值时段表现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MAPE（百分比误差）：当真值接近0时数值爆炸，本数据夜间时段MAPE可达数千%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WMAPE（加权百分比误差）：以总需求为分母，更稳健，本实验主要参考指标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模型误差对比（3/5）</a:t>
            </a:r>
          </a:p>
        </p:txBody>
      </p:sp>
      <p:pic>
        <p:nvPicPr>
          <p:cNvPr id="3" name="Picture 2" descr="model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8229600" cy="405149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训练过程（4/5）</a:t>
            </a:r>
          </a:p>
        </p:txBody>
      </p:sp>
      <p:pic>
        <p:nvPicPr>
          <p:cNvPr id="3" name="Picture 2" descr="train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8229600" cy="405149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误差空间分布（5/5）</a:t>
            </a:r>
          </a:p>
        </p:txBody>
      </p:sp>
      <p:pic>
        <p:nvPicPr>
          <p:cNvPr id="3" name="Picture 2" descr="spatial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10058400" cy="341985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误差空间分布的原因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</a:defRPr>
            </a:pPr>
            <a:r>
              <a:t>高需求 — 高误差：高峰期单网格30分钟订单可达数千辆，相对误差10%对应绝对MAE远高于低需求网格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需求波动性强：高需求网格对突发事件（天气、管制、活动）更敏感，昨日同期基线难以捕捉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数据量不足：训练段仅约31小时高量数据，模型无法学习各网格差异化模式，只能学到全局周期修正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总结与讨论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</a:defRPr>
            </a:pPr>
            <a:r>
              <a:t>previous-day基线凭强日周期惯性表现最强（MAE=60.4），Transformer残差模型接近（MAE=61.0）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historical_mean明显较差（MAE=101.2），说明数据有明显时间模式可利用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残差建模有效稳定训练，Transformer验证loss从0.41降至0.14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深度模型要超越简单基线，需要：更长时间跨度数据、真实分布差异、额外特征（天气/POI/空间拓扑）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当前32天、时段单一的数据条件下，简单基线的竞争力难以被超越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源代码与GitHub仓库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>
                <a:solidFill>
                  <a:srgbClr val="0563C1"/>
                </a:solidFill>
                <a:hlinkClick r:id="rId2"/>
              </a:rPr>
              <a:t>GitHub仓库：https://github.com/wyyy520/BikeDemand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</a:defRPr>
            </a:pPr>
            <a:r>
              <a:t>主要源代码结构：</a:t>
            </a:r>
          </a:p>
          <a:p>
            <a:pPr lvl="1">
              <a:defRPr sz="1800">
                <a:solidFill>
                  <a:srgbClr val="333333"/>
                </a:solidFill>
              </a:defRPr>
            </a:pPr>
            <a:r>
              <a:t>src/fetch_orders_sqlite.py  - API爬取订单数据，存入SQLite</a:t>
            </a:r>
          </a:p>
          <a:p>
            <a:pPr lvl="1">
              <a:defRPr sz="1800">
                <a:solidFill>
                  <a:srgbClr val="333333"/>
                </a:solidFill>
              </a:defRPr>
            </a:pPr>
            <a:r>
              <a:t>src/clean_orders.py        - 数据清洗（去重、去异常）</a:t>
            </a:r>
          </a:p>
          <a:p>
            <a:pPr lvl="1">
              <a:defRPr sz="1800">
                <a:solidFill>
                  <a:srgbClr val="333333"/>
                </a:solidFill>
              </a:defRPr>
            </a:pPr>
            <a:r>
              <a:t>src/aggregate_demand.py    - 时空网格聚合，生成30min需求矩阵</a:t>
            </a:r>
          </a:p>
          <a:p>
            <a:pPr lvl="1">
              <a:defRPr sz="1800">
                <a:solidFill>
                  <a:srgbClr val="333333"/>
                </a:solidFill>
              </a:defRPr>
            </a:pPr>
            <a:r>
              <a:t>src/transformer_model.py   - Transformer模型定义（含空间注意力）</a:t>
            </a:r>
          </a:p>
          <a:p>
            <a:pPr lvl="1">
              <a:defRPr sz="1800">
                <a:solidFill>
                  <a:srgbClr val="333333"/>
                </a:solidFill>
              </a:defRPr>
            </a:pPr>
            <a:r>
              <a:t>src/lstm_model.py          - LSTM模型定义</a:t>
            </a:r>
          </a:p>
          <a:p>
            <a:pPr lvl="1">
              <a:defRPr sz="1800">
                <a:solidFill>
                  <a:srgbClr val="333333"/>
                </a:solidFill>
              </a:defRPr>
            </a:pPr>
            <a:r>
              <a:t>src/train_transformer.py   - Transformer训练与评估脚本</a:t>
            </a:r>
          </a:p>
          <a:p>
            <a:pPr lvl="1">
              <a:defRPr sz="1800">
                <a:solidFill>
                  <a:srgbClr val="333333"/>
                </a:solidFill>
              </a:defRPr>
            </a:pPr>
            <a:r>
              <a:t>src/train_lstm.py          - LSTM训练与评估脚本</a:t>
            </a:r>
          </a:p>
          <a:p>
            <a:pPr>
              <a:defRPr sz="800">
                <a:solidFill>
                  <a:srgbClr val="333333"/>
                </a:solidFill>
              </a:defRPr>
            </a:pPr>
          </a:p>
          <a:p>
            <a:pPr lvl="1">
              <a:defRPr sz="1800">
                <a:solidFill>
                  <a:srgbClr val="333333"/>
                </a:solidFill>
              </a:defRPr>
            </a:pPr>
            <a:r>
              <a:t>report/analysis.pdf        - 完整分析报告</a:t>
            </a:r>
          </a:p>
          <a:p>
            <a:pPr lvl="1">
              <a:defRPr sz="1800">
                <a:solidFill>
                  <a:srgbClr val="333333"/>
                </a:solidFill>
              </a:defRPr>
            </a:pPr>
            <a:r>
              <a:t>report/presentation.pptx   - 汇报PPT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