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建议用时：36秒</a:t>
            </a:r>
          </a:p>
          <a:p>
            <a:r>
              <a:t>交代任务与口径。一个订单至少对应一次借车和一次还车事件，30个网格共60个通道。原始库跨2017至2021年，建模使用2021年清洗记录。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建议用时：42秒</a:t>
            </a:r>
          </a:p>
          <a:p>
            <a:r>
              <a:t>这页是解释预测结果的关键背景：训练和测试覆盖状态不一致。图的原始标题写“全城”，我们在这里明确改正为选定30网格事件合计。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建议用时：39秒</a:t>
            </a:r>
          </a:p>
          <a:p>
            <a:r>
              <a:t>强调观察和边界同时成立：周一早峰占比更高，周日白天更分散；但仅各一个完整日，不能上升为普遍工作日规律。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建议用时：40秒</a:t>
            </a:r>
          </a:p>
          <a:p>
            <a:r>
              <a:t>注意时段长度不同，不能拿区间总量直接比，所以表里是每半小时平均量。周一早峰还车高于借车，晚峰借车高于还车；只代表这30个网格集合的净流变化。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建议用时：36秒</a:t>
            </a:r>
          </a:p>
          <a:p>
            <a:r>
              <a:t>指出日内变化与日型差异，同时提醒图尾出现骤降，不能当作真实需求骤降。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建议用时：44秒</a:t>
            </a:r>
          </a:p>
          <a:p>
            <a:r>
              <a:t>强调特征构造和精确维度。加入昨日同期是一个简单有效的周期信息；模型学习对它的残差修正。测试数据没有参与归一化统计量拟合。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建议用时：38秒</a:t>
            </a:r>
          </a:p>
          <a:p>
            <a:r>
              <a:t>简要介绍模型。准确表述注意力结构：Transformer在时间轴编码多变量序列，没有用路网或网格邻接矩阵，因此不是空间图神经网络。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建议用时：41秒</a:t>
            </a:r>
          </a:p>
          <a:p>
            <a:r>
              <a:t>把划分具体到日期和窗口数。测试过程中每一步有此前已经观测到的真实数据，这是在线单步评估设定，不是固定起点向未来滚动多天。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建议用时：34秒</a:t>
            </a:r>
          </a:p>
          <a:p>
            <a:r>
              <a:t>解释指标以及MAPE的零值处理。低需求下相对误差不稳定，所以和绝对误差及加权百分比一起报告。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建议用时：57秒</a:t>
            </a:r>
          </a:p>
          <a:p>
            <a:r>
              <a:t>给出结论，不夸大结果。Transformer对朴素历史平均改进明显，但昨日同期是更强基线且略优。MAPE数值高的原因之一是许多通道接近零。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建议用时：44秒</a:t>
            </a:r>
          </a:p>
          <a:p>
            <a:r>
              <a:t>解读空间误差：数组索引可以通过网格ID和经纬度转换，但图不是底图。当前样本高需求与高绝对误差高度相关，相关不说明因果，也不代表相对误差更大。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建议用时：47秒</a:t>
            </a:r>
          </a:p>
          <a:p>
            <a:r>
              <a:t>绝对误差和WMAPE趋势不同，说明量级对解释很重要。把天气、POI等写成待验证的可能因素，不能把它们当作已证明原因。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建议用时：42秒</a:t>
            </a:r>
          </a:p>
          <a:p>
            <a:r>
              <a:t>总结三个结论。改进建议重点是先保证数据覆盖与评估可靠，再增加外部特征和空间结构。代码与训练结果保留在项目仓库。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建议用时：0秒</a:t>
            </a:r>
          </a:p>
          <a:p>
            <a:r>
              <a:t>备用页。只有问到日期划分实验时展开。此表测试集不同，不能把MAE变化解读为训练方法优劣。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研究问题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从订单事件到区域需求：预测下一半小时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每个时点同时预测 30 个区域的借车量和还车量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02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" y="1856231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856231"/>
            <a:ext cx="73152" cy="16002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02536"/>
            <a:ext cx="30632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数据规模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3063240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2,764,231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22960" y="2843784"/>
            <a:ext cx="3044952" cy="5577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2021 年清洗订单；原始 SQLite 去重后约 300 万条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70832" y="1856231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856231"/>
            <a:ext cx="73152" cy="1600200"/>
          </a:xfrm>
          <a:prstGeom prst="rect">
            <a:avLst/>
          </a:prstGeom>
          <a:solidFill>
            <a:srgbClr val="39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02536"/>
            <a:ext cx="30632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时间粒度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0" y="2331720"/>
            <a:ext cx="3063240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30 分钟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572000" y="2843784"/>
            <a:ext cx="3044952" cy="5577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订单开始计借车，结束计还车；网格代替站点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19872" y="1856231"/>
            <a:ext cx="3429000" cy="16002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9872" y="1856231"/>
            <a:ext cx="73152" cy="1600200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002536"/>
            <a:ext cx="306324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预测范围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063240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30 × 2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21040" y="2843784"/>
            <a:ext cx="3044952" cy="5577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30 个高需求网格 × 借/还两个方向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21792" y="3867912"/>
            <a:ext cx="10927080" cy="1627632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096512"/>
            <a:ext cx="103327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087E8B"/>
                </a:solidFill>
                <a:latin typeface="Noto Sans CJK SC" panose="020B0500000000000000" charset="-122"/>
              </a:rPr>
              <a:t>处理流程</a:t>
            </a:r>
            <a:endParaRPr sz="17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6112" y="4590288"/>
            <a:ext cx="102870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02A43"/>
                </a:solidFill>
                <a:latin typeface="Noto Sans CJK SC" panose="020B0500000000000000" charset="-122"/>
              </a:rPr>
              <a:t>去重与清洗  →  起终点网格聚合  →  补齐半小时序列  →  构造 24 小时输入  →  单步滚动预测</a:t>
            </a:r>
            <a:endParaRPr sz="18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8368" y="5788152"/>
            <a:ext cx="10789920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数据实际来源为深圳市政府数据开放平台；现有材料不能确认与课程统一发放文件完全一致。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数据审视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先看覆盖：高量段集中在序列末尾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日总量图反映采集样本覆盖变化，不能直接解释为城市真实需求跃升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03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pic>
        <p:nvPicPr>
          <p:cNvPr id="9" name="Picture 8" descr="daily_ord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477007"/>
            <a:ext cx="7360920" cy="2617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93608" y="1938528"/>
            <a:ext cx="3108960" cy="338328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2176272"/>
            <a:ext cx="2651760" cy="3200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D56A55"/>
                </a:solidFill>
                <a:latin typeface="Noto Sans CJK SC" panose="020B0500000000000000" charset="-122"/>
              </a:rPr>
              <a:t>必须说明的质量限制</a:t>
            </a:r>
            <a:endParaRPr sz="1600" b="1">
              <a:solidFill>
                <a:srgbClr val="D56A55"/>
              </a:solidFill>
              <a:latin typeface="Noto Sans CJK SC" panose="020B05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40496" y="2724912"/>
            <a:ext cx="260604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• 前期所选网格日量仅数百次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540496" y="3255264"/>
            <a:ext cx="260604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• 1 月 30 日后记录量显著增多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40496" y="3785615"/>
            <a:ext cx="260604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• 2 月 2 日数据只到 14:00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40496" y="4315968"/>
            <a:ext cx="260604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• 零值表示无样本记录，不保证无真实需求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9808" y="5971032"/>
            <a:ext cx="10332720" cy="2468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526777"/>
                </a:solidFill>
                <a:latin typeface="Noto Sans CJK SC" panose="020B0500000000000000" charset="-122"/>
              </a:rPr>
              <a:t>统计对象是所选 30 网格的借还事件合计，不是全市完整订单量。</a:t>
            </a:r>
            <a:endParaRPr sz="12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需求规律  /  日类型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周一与周日差异明显，但只有各一个完整高量日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比较 2021-01-31（周日）与 2021-02-01（周一）；结果仅描述当前样本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04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95528" y="1828800"/>
            <a:ext cx="4572000" cy="6217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47088"/>
            <a:ext cx="4462272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指标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67528" y="1828800"/>
            <a:ext cx="3008376" cy="6217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2392" y="1847088"/>
            <a:ext cx="2898648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周日 01/31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75904" y="1828800"/>
            <a:ext cx="3008376" cy="6217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0768" y="1847088"/>
            <a:ext cx="2898648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周一 02/01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95528" y="2450592"/>
            <a:ext cx="45720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468880"/>
            <a:ext cx="4443984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全天借车事件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67528" y="2450592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31536" y="2468880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162,356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375904" y="2450592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9912" y="2468880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360,183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95528" y="3072384"/>
            <a:ext cx="4572000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3090672"/>
            <a:ext cx="4443984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全天还车事件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67528" y="3072384"/>
            <a:ext cx="3008376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31536" y="3090672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161,451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75904" y="3072384"/>
            <a:ext cx="3008376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2" y="3090672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358,761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95528" y="3694176"/>
            <a:ext cx="45720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712463"/>
            <a:ext cx="4443984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早高峰借车占全天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367528" y="3694176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31536" y="3712463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12.75%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375904" y="3694176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39912" y="3712463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24.90%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95528" y="4315968"/>
            <a:ext cx="4572000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334256"/>
            <a:ext cx="4443984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晚高峰借车占全天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367528" y="4315968"/>
            <a:ext cx="3008376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31536" y="4334256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23.85%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75904" y="4315968"/>
            <a:ext cx="3008376" cy="62179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9912" y="4334256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23.45%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95528" y="4937760"/>
            <a:ext cx="4572000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4956048"/>
            <a:ext cx="4443984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平峰借车占全天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367528" y="4937760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31536" y="4956048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56.19%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8375904" y="4937760"/>
            <a:ext cx="3008376" cy="62179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9912" y="4956048"/>
            <a:ext cx="288036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44.33%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95528" y="5532120"/>
            <a:ext cx="10588752" cy="566928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" y="5596128"/>
            <a:ext cx="1019556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2A43"/>
                </a:solidFill>
                <a:latin typeface="Noto Sans CJK SC" panose="020B0500000000000000" charset="-122"/>
              </a:rPr>
              <a:t>周一全天借车约为周日 2.22 倍；采集覆盖与日类型重叠，不能把总量差异全归因于工作日。</a:t>
            </a:r>
            <a:endParaRPr sz="14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需求规律  /  日内时段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周一早晚高峰强于平峰；周日早峰并不突出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时段定义与代码一致，比较半小时平均借车 / 还车量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05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7512" y="1874519"/>
            <a:ext cx="2971800" cy="67665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892807"/>
            <a:ext cx="2862072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时段（小时）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639312" y="1874519"/>
            <a:ext cx="1417320" cy="67665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4176" y="1892807"/>
            <a:ext cx="1307592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槽数/日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56632" y="1874519"/>
            <a:ext cx="3246120" cy="67665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11496" y="1892807"/>
            <a:ext cx="3136391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周日 借 / 还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302752" y="1874519"/>
            <a:ext cx="3246120" cy="676656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892807"/>
            <a:ext cx="3136391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周一 借 / 还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67512" y="2551176"/>
            <a:ext cx="297180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69464"/>
            <a:ext cx="284378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早高峰 07–10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639312" y="2551176"/>
            <a:ext cx="14173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2569464"/>
            <a:ext cx="128930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6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56632" y="2551176"/>
            <a:ext cx="32461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2569464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3,449 / 3,653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02752" y="2551176"/>
            <a:ext cx="32461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2569464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14,945 / 16,114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67512" y="3227832"/>
            <a:ext cx="297180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246120"/>
            <a:ext cx="284378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晚高峰 17–20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639312" y="3227832"/>
            <a:ext cx="14173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3246120"/>
            <a:ext cx="128930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6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056632" y="3227832"/>
            <a:ext cx="32461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3246120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6,453 / 6,492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302752" y="3227832"/>
            <a:ext cx="32461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3246120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14,078 / 13,380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7512" y="3904487"/>
            <a:ext cx="297180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922775"/>
            <a:ext cx="284378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平峰 10–17、20–23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639312" y="3904487"/>
            <a:ext cx="14173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3922775"/>
            <a:ext cx="128930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20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056632" y="3904487"/>
            <a:ext cx="32461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3922775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4,562 / 4,477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302752" y="3904487"/>
            <a:ext cx="3246120" cy="676656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66760" y="3922775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7,984 / 7,836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67512" y="4581144"/>
            <a:ext cx="297180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4599431"/>
            <a:ext cx="284378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夜间 其余时段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639312" y="4581144"/>
            <a:ext cx="14173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4599431"/>
            <a:ext cx="1289304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16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5056632" y="4581144"/>
            <a:ext cx="32461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20640" y="4599431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732 / 691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8302752" y="4581144"/>
            <a:ext cx="3246120" cy="676656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66760" y="4599431"/>
            <a:ext cx="3118103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1,648 / 1,568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877824" y="5239512"/>
            <a:ext cx="4983480" cy="9144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77824" y="5239512"/>
            <a:ext cx="73152" cy="914400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" y="5385816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周一早高峰借车 / 平峰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78992" y="5715000"/>
            <a:ext cx="4617720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1.87×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6236208" y="5239512"/>
            <a:ext cx="4983480" cy="9144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36208" y="5239512"/>
            <a:ext cx="73152" cy="914400"/>
          </a:xfrm>
          <a:prstGeom prst="rect">
            <a:avLst/>
          </a:prstGeom>
          <a:solidFill>
            <a:srgbClr val="39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37376" y="5385816"/>
            <a:ext cx="4617720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周一晚高峰借车 / 平峰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437376" y="5715000"/>
            <a:ext cx="4617720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1.76×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需求规律  /  时间变化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高量段呈现明显日内起伏，末端骤降受采集终点影响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使用已有高量段时序图；图中数值是 30 网格借还事件合计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06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pic>
        <p:nvPicPr>
          <p:cNvPr id="9" name="Picture 8" descr="high_volume_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013000"/>
            <a:ext cx="10716768" cy="38104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预测方法  /  特征构造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输入过去 24 小时，输出下一时段 60 个通道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模型按 48 个时间步处理多变量序列，不把时间步展平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07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" y="2121408"/>
            <a:ext cx="2862072" cy="201168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121408"/>
            <a:ext cx="2862072" cy="109728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" y="2432304"/>
            <a:ext cx="2551176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需求历史 48 × 60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13816" y="3026664"/>
            <a:ext cx="2551176" cy="7498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30 区域 × 借 / 还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过去每个半小时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675887" y="2121408"/>
            <a:ext cx="2377440" cy="201168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75887" y="2121408"/>
            <a:ext cx="2377440" cy="109728"/>
          </a:xfrm>
          <a:prstGeom prst="rect">
            <a:avLst/>
          </a:prstGeom>
          <a:solidFill>
            <a:srgbClr val="39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31335" y="2432304"/>
            <a:ext cx="2066544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时间特征 48 × 6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31335" y="3026664"/>
            <a:ext cx="2066544" cy="7498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日内 / 周内正余弦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周末标记 / 高峰标记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8776" y="2121408"/>
            <a:ext cx="2377440" cy="201168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8776" y="2121408"/>
            <a:ext cx="2377440" cy="109728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2432304"/>
            <a:ext cx="2066544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昨日同期 48 × 60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64224" y="3026664"/>
            <a:ext cx="2066544" cy="7498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目标时刻 t−48 的需求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复制到历史各步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741664" y="2121408"/>
            <a:ext cx="2715768" cy="201168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41664" y="2121408"/>
            <a:ext cx="2715768" cy="109728"/>
          </a:xfrm>
          <a:prstGeom prst="rect">
            <a:avLst/>
          </a:prstGeom>
          <a:solidFill>
            <a:srgbClr val="287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97112" y="2432304"/>
            <a:ext cx="2404872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预测 1 × 60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897112" y="3026664"/>
            <a:ext cx="2404872" cy="7498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下一半小时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526777"/>
                </a:solidFill>
                <a:latin typeface="Noto Sans CJK SC" panose="020B0500000000000000" charset="-122"/>
              </a:rPr>
              <a:t>30 区域借 / 还</a:t>
            </a:r>
            <a:endParaRPr sz="15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264408" y="2816352"/>
            <a:ext cx="347472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87E8B"/>
                </a:solidFill>
                <a:latin typeface="Noto Sans CJK SC" panose="020B0500000000000000" charset="-122"/>
              </a:rPr>
              <a:t>+</a:t>
            </a:r>
            <a:endParaRPr sz="22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797296" y="2816352"/>
            <a:ext cx="347472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87E8B"/>
                </a:solidFill>
                <a:latin typeface="Noto Sans CJK SC" panose="020B0500000000000000" charset="-122"/>
              </a:rPr>
              <a:t>+</a:t>
            </a:r>
            <a:endParaRPr sz="22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30183" y="2816352"/>
            <a:ext cx="347472" cy="4114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087E8B"/>
                </a:solidFill>
                <a:latin typeface="Noto Sans CJK SC" panose="020B0500000000000000" charset="-122"/>
              </a:rPr>
              <a:t>→</a:t>
            </a:r>
            <a:endParaRPr sz="22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960120" y="4599432"/>
            <a:ext cx="10241280" cy="850392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8" y="4773168"/>
            <a:ext cx="973836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实际张量：[B, 48, 126]  →  [B, 1, 60]     |     需求：log(1+x) 后按训练集逐通道标准化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87552" y="5733288"/>
            <a:ext cx="1019556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预测器学习标准化对数域残差 zₜ − zₜ₋₄₈，再还原至非负订单计数。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预测方法  /  模型与基线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同一滚动单步任务比较 4 种方法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历史平均与昨日同期提供简单基准；LSTM、Transformer学习残差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08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2331720" cy="6858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874519"/>
            <a:ext cx="2221991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方法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63239" y="1856231"/>
            <a:ext cx="5029200" cy="6858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3" y="1874519"/>
            <a:ext cx="4919472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输入 / 预测机制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092440" y="1856231"/>
            <a:ext cx="3383280" cy="6858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1874519"/>
            <a:ext cx="3273552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Noto Sans CJK SC" panose="020B0500000000000000" charset="-122"/>
              </a:rPr>
              <a:t>对比作用</a:t>
            </a:r>
            <a:endParaRPr sz="14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2542032"/>
            <a:ext cx="233172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560320"/>
            <a:ext cx="2203703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历史平均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63239" y="2542032"/>
            <a:ext cx="50292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7" y="2560320"/>
            <a:ext cx="490118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训练集 星期 × 半小时槽 均值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092440" y="2542032"/>
            <a:ext cx="338328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2560320"/>
            <a:ext cx="325526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日历周期基线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31520" y="3227832"/>
            <a:ext cx="233172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246120"/>
            <a:ext cx="2203703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昨日同期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063239" y="3227832"/>
            <a:ext cx="502920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27247" y="3246120"/>
            <a:ext cx="490118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直接使用 Dₜ₋₄₈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92440" y="3227832"/>
            <a:ext cx="338328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56448" y="3246120"/>
            <a:ext cx="325526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强日周期基线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31520" y="3913631"/>
            <a:ext cx="233172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3931919"/>
            <a:ext cx="2203703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LSTM 残差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063239" y="3913631"/>
            <a:ext cx="50292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27247" y="3931919"/>
            <a:ext cx="490118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48步序列 → 60通道残差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092440" y="3913631"/>
            <a:ext cx="338328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931919"/>
            <a:ext cx="325526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循环序列模型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31520" y="4599431"/>
            <a:ext cx="233172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17719"/>
            <a:ext cx="2203703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Transformer 残差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063239" y="4599431"/>
            <a:ext cx="502920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27247" y="4617719"/>
            <a:ext cx="490118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d=32，1层，4头，FFN=64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092440" y="4599431"/>
            <a:ext cx="3383280" cy="68580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56448" y="4617719"/>
            <a:ext cx="3255264" cy="6492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时间注意力模型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749808" y="5486400"/>
            <a:ext cx="10698480" cy="685800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5614416"/>
            <a:ext cx="101955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D56A55"/>
                </a:solidFill>
                <a:latin typeface="Noto Sans CJK SC" panose="020B0500000000000000" charset="-122"/>
              </a:rPr>
              <a:t>注意：模型联合预测多个网格，但没有显式地理邻接图；此处不称为图神经网络。</a:t>
            </a:r>
            <a:endParaRPr sz="1500" b="1">
              <a:solidFill>
                <a:srgbClr val="D56A55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实验设计  /  时间划分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主结果采用严格按时间顺序的 70% / 15% / 15% 划分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前 48 步作历史上下文；集合按目标时间点切分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09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14400" y="1984248"/>
            <a:ext cx="2057400" cy="84124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02536"/>
            <a:ext cx="1947672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集合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971800" y="1984248"/>
            <a:ext cx="2971800" cy="84124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26664" y="2002536"/>
            <a:ext cx="2862072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首个目标时刻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943600" y="1984248"/>
            <a:ext cx="3063240" cy="84124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98464" y="2002536"/>
            <a:ext cx="2953512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最后目标时刻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9006840" y="1984248"/>
            <a:ext cx="2212848" cy="84124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2002536"/>
            <a:ext cx="2103120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窗口数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14400" y="2825496"/>
            <a:ext cx="20574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843784"/>
            <a:ext cx="19293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训练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971800" y="2825496"/>
            <a:ext cx="2971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35808" y="2843784"/>
            <a:ext cx="28437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01/02 00:00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943600" y="2825496"/>
            <a:ext cx="306324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07608" y="2843784"/>
            <a:ext cx="293522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01/23 19:00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9006840" y="2825496"/>
            <a:ext cx="2212848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2843784"/>
            <a:ext cx="2084831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1,047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914400" y="3666744"/>
            <a:ext cx="2057400" cy="84124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685031"/>
            <a:ext cx="19293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验证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971800" y="3666744"/>
            <a:ext cx="2971800" cy="84124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5808" y="3685031"/>
            <a:ext cx="28437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01/23 19:30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943600" y="3666744"/>
            <a:ext cx="3063240" cy="84124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7608" y="3685031"/>
            <a:ext cx="293522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01/28 16:30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006840" y="3666744"/>
            <a:ext cx="2212848" cy="84124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0848" y="3685031"/>
            <a:ext cx="2084831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235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914400" y="4507992"/>
            <a:ext cx="20574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526279"/>
            <a:ext cx="19293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测试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971800" y="4507992"/>
            <a:ext cx="2971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35808" y="4526279"/>
            <a:ext cx="284378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01/28 17:00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5943600" y="4507992"/>
            <a:ext cx="306324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07608" y="4526279"/>
            <a:ext cx="2935224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02/02 14:00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006840" y="4507992"/>
            <a:ext cx="2212848" cy="84124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0848" y="4526279"/>
            <a:ext cx="2084831" cy="8046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235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914400" y="5486400"/>
            <a:ext cx="10287000" cy="758952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70432" y="5596128"/>
            <a:ext cx="9802368" cy="52120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Noto Sans CJK SC" panose="020B0500000000000000" charset="-122"/>
              </a:rPr>
              <a:t>关键风险：训练 / 验证多为稀疏段，测试包含高量段，存在显著分布偏移。滚动单步时允许使用此前已观测测试时段。</a:t>
            </a:r>
            <a:endParaRPr sz="1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评价方式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MAE 与 RMSE衡量绝对误差；MAPE对低需求更敏感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所有指标在同一测试窗口、还原后的订单计数上计算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10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68096" y="1965960"/>
            <a:ext cx="3401568" cy="153619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65960"/>
            <a:ext cx="73152" cy="153619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12264"/>
            <a:ext cx="30358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MAE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9264" y="2441448"/>
            <a:ext cx="3035808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平均绝对误差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69264" y="2953512"/>
            <a:ext cx="3017520" cy="4937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单位：次 / 网格 / 30 分钟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407408" y="1965960"/>
            <a:ext cx="3401568" cy="153619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7408" y="1965960"/>
            <a:ext cx="73152" cy="1536192"/>
          </a:xfrm>
          <a:prstGeom prst="rect">
            <a:avLst/>
          </a:prstGeom>
          <a:solidFill>
            <a:srgbClr val="397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2112264"/>
            <a:ext cx="30358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RMSE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608576" y="2441448"/>
            <a:ext cx="3035808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大误差惩罚更重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08576" y="2953512"/>
            <a:ext cx="3017520" cy="4937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单位与 MAE 相同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046720" y="1965960"/>
            <a:ext cx="3401568" cy="153619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965960"/>
            <a:ext cx="73152" cy="1536192"/>
          </a:xfrm>
          <a:prstGeom prst="rect">
            <a:avLst/>
          </a:prstGeom>
          <a:solidFill>
            <a:srgbClr val="F2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112264"/>
            <a:ext cx="3035808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26777"/>
                </a:solidFill>
                <a:latin typeface="Noto Sans CJK SC" panose="020B0500000000000000" charset="-122"/>
              </a:rPr>
              <a:t>MAPEε / WMAPE</a:t>
            </a:r>
            <a:endParaRPr sz="1300" b="1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247888" y="2441448"/>
            <a:ext cx="3035808" cy="47548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102A43"/>
                </a:solidFill>
                <a:latin typeface="Noto Sans CJK SC" panose="020B0500000000000000" charset="-122"/>
              </a:rPr>
              <a:t>相对误差</a:t>
            </a:r>
            <a:endParaRPr sz="2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47888" y="2953512"/>
            <a:ext cx="3017520" cy="4937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MAPE 分母下限为 1；结合 WMAPE 解读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77240" y="4069080"/>
            <a:ext cx="10652760" cy="1261872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270248"/>
            <a:ext cx="10058400" cy="3566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02A43"/>
                </a:solidFill>
                <a:latin typeface="Noto Sans CJK SC" panose="020B0500000000000000" charset="-122"/>
              </a:rPr>
              <a:t>MAE = mean(|预测 − 真实|)      RMSE = √mean((预测 − 真实)²)</a:t>
            </a:r>
            <a:endParaRPr sz="18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60704" y="4773168"/>
            <a:ext cx="10058400" cy="3566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183B56"/>
                </a:solidFill>
                <a:latin typeface="Noto Sans CJK SC" panose="020B0500000000000000" charset="-122"/>
              </a:rPr>
              <a:t>MAPEε = 100% × mean(|e| / max(|y|, 1))   WMAPE = 100% × Σ|e| / max(Σ|y|, 1)</a:t>
            </a:r>
            <a:endParaRPr sz="17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68680" y="5660136"/>
            <a:ext cx="10515600" cy="38404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D56A55"/>
                </a:solidFill>
                <a:latin typeface="Noto Sans CJK SC" panose="020B0500000000000000" charset="-122"/>
              </a:rPr>
              <a:t>低需求槽的 MAPE 仍可能很大；不可只挑一个百分比指标判断模型。</a:t>
            </a:r>
            <a:endParaRPr sz="1400" b="1">
              <a:solidFill>
                <a:srgbClr val="D56A55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实验结果  /  主实验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Transformer 明显优于历史平均，但略逊于昨日同期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所有模型在同一比例划分测试集；单位：次 / 网格 / 30 分钟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11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pic>
        <p:nvPicPr>
          <p:cNvPr id="9" name="Picture 8" descr="model_compa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232824"/>
            <a:ext cx="5788151" cy="28495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37960" y="1938528"/>
            <a:ext cx="1874519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1956816"/>
            <a:ext cx="1764791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模型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412480" y="1938528"/>
            <a:ext cx="1051560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67344" y="1956816"/>
            <a:ext cx="941831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MAE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9464040" y="1938528"/>
            <a:ext cx="1170432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1956816"/>
            <a:ext cx="106070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RMSE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634472" y="1938528"/>
            <a:ext cx="978408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89336" y="1956816"/>
            <a:ext cx="868680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WMAPE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537960" y="2578608"/>
            <a:ext cx="1874519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1968" y="2596896"/>
            <a:ext cx="174650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历史平均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412480" y="2578608"/>
            <a:ext cx="10515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2596896"/>
            <a:ext cx="92354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101.20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464040" y="2578608"/>
            <a:ext cx="1170432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2596896"/>
            <a:ext cx="104241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198.86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10634472" y="2578608"/>
            <a:ext cx="978408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2596896"/>
            <a:ext cx="85039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99.93%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537960" y="3218688"/>
            <a:ext cx="1874519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1968" y="3236976"/>
            <a:ext cx="174650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昨日同期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412480" y="3218688"/>
            <a:ext cx="105156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3236976"/>
            <a:ext cx="92354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60.41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464040" y="3218688"/>
            <a:ext cx="1170432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8048" y="3236976"/>
            <a:ext cx="104241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122.22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0634472" y="3218688"/>
            <a:ext cx="978408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98480" y="3236976"/>
            <a:ext cx="85039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59.65%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537960" y="3858768"/>
            <a:ext cx="1874519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877055"/>
            <a:ext cx="174650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LSTM 残差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412480" y="3858768"/>
            <a:ext cx="105156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3877055"/>
            <a:ext cx="92354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62.34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9464040" y="3858768"/>
            <a:ext cx="1170432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28048" y="3877055"/>
            <a:ext cx="104241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124.29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0634472" y="3858768"/>
            <a:ext cx="978408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3877055"/>
            <a:ext cx="85039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61.55%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537960" y="4498848"/>
            <a:ext cx="1874519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4517136"/>
            <a:ext cx="174650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Transformer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8412480" y="4498848"/>
            <a:ext cx="105156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76488" y="4517136"/>
            <a:ext cx="923543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61.01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9464040" y="4498848"/>
            <a:ext cx="1170432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28048" y="4517136"/>
            <a:ext cx="104241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122.78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10634472" y="4498848"/>
            <a:ext cx="978408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98480" y="4517136"/>
            <a:ext cx="85039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60.25%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547104" y="5148072"/>
            <a:ext cx="5047488" cy="713232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57416" y="5276088"/>
            <a:ext cx="466344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02A43"/>
                </a:solidFill>
                <a:latin typeface="Noto Sans CJK SC" panose="020B0500000000000000" charset="-122"/>
              </a:rPr>
              <a:t>相对历史平均 MAE 降低 39.7%；</a:t>
            </a:r>
            <a:endParaRPr sz="1400" b="1">
              <a:solidFill>
                <a:srgbClr val="102A43"/>
              </a:solidFill>
              <a:latin typeface="Noto Sans CJK SC" panose="020B0500000000000000" charset="-122"/>
            </a:endParaRP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102A43"/>
                </a:solidFill>
                <a:latin typeface="Noto Sans CJK SC" panose="020B0500000000000000" charset="-122"/>
              </a:rPr>
              <a:t>较昨日同期 MAE 高 1.0%。</a:t>
            </a:r>
            <a:endParaRPr sz="14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31520" y="5861304"/>
            <a:ext cx="1060704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56A55"/>
                </a:solidFill>
                <a:latin typeface="Noto Sans CJK SC" panose="020B0500000000000000" charset="-122"/>
              </a:rPr>
              <a:t>昨日同期在主实验 MAE / RMSE / WMAPE 均为最佳；复杂模型优势尚未得到证明。</a:t>
            </a:r>
            <a:endParaRPr sz="1300" b="1">
              <a:solidFill>
                <a:srgbClr val="D56A55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误差分析  /  空间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绝对误差集中在需求量较高的少数网格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图中索引对应需求排序，不是地理底图；借车 MAE 61.47，还车 MAE 60.56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12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pic>
        <p:nvPicPr>
          <p:cNvPr id="9" name="Picture 8" descr="spatial_erro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686415"/>
            <a:ext cx="6976872" cy="2372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10144" y="1965960"/>
            <a:ext cx="3474720" cy="363931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194560"/>
            <a:ext cx="297180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87E8B"/>
                </a:solidFill>
                <a:latin typeface="Noto Sans CJK SC" panose="020B0500000000000000" charset="-122"/>
              </a:rPr>
              <a:t>借还平均 MAE 较高的网格</a:t>
            </a:r>
            <a:endParaRPr sz="15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47888" y="2688336"/>
            <a:ext cx="658368" cy="47548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2706624"/>
            <a:ext cx="5486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Noto Sans CJK SC" panose="020B0500000000000000" charset="-122"/>
              </a:rPr>
              <a:t>索引</a:t>
            </a:r>
            <a:endParaRPr sz="11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06256" y="2688336"/>
            <a:ext cx="1216152" cy="47548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0" y="2706624"/>
            <a:ext cx="1106424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Noto Sans CJK SC" panose="020B0500000000000000" charset="-122"/>
              </a:rPr>
              <a:t>网格 ID</a:t>
            </a:r>
            <a:endParaRPr sz="11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122408" y="2688336"/>
            <a:ext cx="1097280" cy="475488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77272" y="2706624"/>
            <a:ext cx="9875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1">
                <a:solidFill>
                  <a:srgbClr val="FFFFFF"/>
                </a:solidFill>
                <a:latin typeface="Noto Sans CJK SC" panose="020B0500000000000000" charset="-122"/>
              </a:rPr>
              <a:t>MAE</a:t>
            </a:r>
            <a:endParaRPr sz="11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247888" y="3163824"/>
            <a:ext cx="658368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3182112"/>
            <a:ext cx="5303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0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906256" y="3163824"/>
            <a:ext cx="1216152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0264" y="3182112"/>
            <a:ext cx="1088136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14042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0122408" y="3163824"/>
            <a:ext cx="1097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86416" y="3182112"/>
            <a:ext cx="969264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113.98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247888" y="3639312"/>
            <a:ext cx="658368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11896" y="3657600"/>
            <a:ext cx="5303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906256" y="3639312"/>
            <a:ext cx="1216152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70264" y="3657600"/>
            <a:ext cx="1088136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14041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0122408" y="3639312"/>
            <a:ext cx="1097280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86416" y="3657600"/>
            <a:ext cx="969264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94.92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247888" y="4114800"/>
            <a:ext cx="658368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4133087"/>
            <a:ext cx="5303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2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906256" y="4114800"/>
            <a:ext cx="1216152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70264" y="4133087"/>
            <a:ext cx="1088136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14038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0122408" y="4114800"/>
            <a:ext cx="1097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86416" y="4133087"/>
            <a:ext cx="969264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89.34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8247888" y="4590288"/>
            <a:ext cx="658368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1896" y="4608575"/>
            <a:ext cx="530352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5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8906256" y="4590288"/>
            <a:ext cx="1216152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70264" y="4608575"/>
            <a:ext cx="1088136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13035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0122408" y="4590288"/>
            <a:ext cx="1097280" cy="475488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6416" y="4608575"/>
            <a:ext cx="969264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183B56"/>
                </a:solidFill>
                <a:latin typeface="Noto Sans CJK SC" panose="020B0500000000000000" charset="-122"/>
              </a:rPr>
              <a:t>74.34</a:t>
            </a:r>
            <a:endParaRPr sz="11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66175" y="5120640"/>
            <a:ext cx="2898648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D56A55"/>
                </a:solidFill>
                <a:latin typeface="Noto Sans CJK SC" panose="020B0500000000000000" charset="-122"/>
              </a:rPr>
              <a:t>需求均值与 MAE 相关 r ≈ 0.98</a:t>
            </a:r>
            <a:endParaRPr sz="1200" b="1">
              <a:solidFill>
                <a:srgbClr val="D56A55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误差分析  /  时段与成因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早高峰误差最大：需求规模与数据偏移影响预测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指标来自主实验 Transformer；空间与时段误差是描述性分解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13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13232" y="1828800"/>
            <a:ext cx="1325880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847088"/>
            <a:ext cx="121615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时段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039112" y="1828800"/>
            <a:ext cx="1115568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93976" y="1847088"/>
            <a:ext cx="1005840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测试槽数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54680" y="1828800"/>
            <a:ext cx="1234440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9544" y="1847088"/>
            <a:ext cx="112471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MAE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1307592" cy="6400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4" y="1847088"/>
            <a:ext cx="119786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FFFFFF"/>
                </a:solidFill>
                <a:latin typeface="Noto Sans CJK SC" panose="020B0500000000000000" charset="-122"/>
              </a:rPr>
              <a:t>WMAPE</a:t>
            </a:r>
            <a:endParaRPr sz="12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13232" y="2468880"/>
            <a:ext cx="13258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487168"/>
            <a:ext cx="119786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早高峰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39112" y="2468880"/>
            <a:ext cx="1115568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2487168"/>
            <a:ext cx="98755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30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154680" y="2468880"/>
            <a:ext cx="1234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18688" y="2487168"/>
            <a:ext cx="110642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116.26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89120" y="2468880"/>
            <a:ext cx="1307592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3128" y="2487168"/>
            <a:ext cx="11795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49.14%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13232" y="3108960"/>
            <a:ext cx="132588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127248"/>
            <a:ext cx="119786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晚高峰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39112" y="3108960"/>
            <a:ext cx="1115568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03120" y="3127248"/>
            <a:ext cx="98755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30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154680" y="3108960"/>
            <a:ext cx="123444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18688" y="3127248"/>
            <a:ext cx="110642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93.60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389120" y="3108960"/>
            <a:ext cx="1307592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8" y="3127248"/>
            <a:ext cx="11795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58.98%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13232" y="3749039"/>
            <a:ext cx="132588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67327"/>
            <a:ext cx="119786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平峰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039112" y="3749039"/>
            <a:ext cx="1115568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03120" y="3767327"/>
            <a:ext cx="98755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95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3154680" y="3749039"/>
            <a:ext cx="12344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18688" y="3767327"/>
            <a:ext cx="110642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73.86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4389120" y="3749039"/>
            <a:ext cx="1307592" cy="640080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53128" y="3767327"/>
            <a:ext cx="11795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70.14%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13232" y="4389120"/>
            <a:ext cx="132588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407407"/>
            <a:ext cx="119786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夜间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039112" y="4389120"/>
            <a:ext cx="1115568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03120" y="4407407"/>
            <a:ext cx="987552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80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154680" y="4389120"/>
            <a:ext cx="1234440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18688" y="4407407"/>
            <a:ext cx="1106424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12.82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389120" y="4389120"/>
            <a:ext cx="1307592" cy="640080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53128" y="4407407"/>
            <a:ext cx="1179576" cy="6035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0">
                <a:solidFill>
                  <a:srgbClr val="183B56"/>
                </a:solidFill>
                <a:latin typeface="Noto Sans CJK SC" panose="020B0500000000000000" charset="-122"/>
              </a:rPr>
              <a:t>52.94%</a:t>
            </a:r>
            <a:endParaRPr sz="12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6053328" y="1847088"/>
            <a:ext cx="5340096" cy="75895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81928" y="1965960"/>
            <a:ext cx="1536192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87E8B"/>
                </a:solidFill>
                <a:latin typeface="Noto Sans CJK SC" panose="020B0500000000000000" charset="-122"/>
              </a:rPr>
              <a:t>需求规模</a:t>
            </a:r>
            <a:endParaRPr sz="14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754112" y="1956816"/>
            <a:ext cx="3383280" cy="51206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83B56"/>
                </a:solidFill>
                <a:latin typeface="Noto Sans CJK SC" panose="020B0500000000000000" charset="-122"/>
              </a:rPr>
              <a:t>高需求网格更容易产生较大的绝对误差。</a:t>
            </a:r>
            <a:endParaRPr sz="13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6053328" y="2779776"/>
            <a:ext cx="5340096" cy="75895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1928" y="2898648"/>
            <a:ext cx="1536192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87E8B"/>
                </a:solidFill>
                <a:latin typeface="Noto Sans CJK SC" panose="020B0500000000000000" charset="-122"/>
              </a:rPr>
              <a:t>日型转换</a:t>
            </a:r>
            <a:endParaRPr sz="14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754112" y="2889504"/>
            <a:ext cx="3383280" cy="51206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83B56"/>
                </a:solidFill>
                <a:latin typeface="Noto Sans CJK SC" panose="020B0500000000000000" charset="-122"/>
              </a:rPr>
              <a:t>周日到周一早峰结构变化，高量日样本太少。</a:t>
            </a:r>
            <a:endParaRPr sz="13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053328" y="3712464"/>
            <a:ext cx="5340096" cy="75895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81928" y="3831336"/>
            <a:ext cx="1536192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87E8B"/>
                </a:solidFill>
                <a:latin typeface="Noto Sans CJK SC" panose="020B0500000000000000" charset="-122"/>
              </a:rPr>
              <a:t>覆盖与筛选</a:t>
            </a:r>
            <a:endParaRPr sz="14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754112" y="3822192"/>
            <a:ext cx="3383280" cy="51206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83B56"/>
                </a:solidFill>
                <a:latin typeface="Noto Sans CJK SC" panose="020B0500000000000000" charset="-122"/>
              </a:rPr>
              <a:t>训练稀疏、测试高量；网格筛选使用全期总量。</a:t>
            </a:r>
            <a:endParaRPr sz="13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053328" y="4645152"/>
            <a:ext cx="5340096" cy="758952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764024"/>
            <a:ext cx="1536192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87E8B"/>
                </a:solidFill>
                <a:latin typeface="Noto Sans CJK SC" panose="020B0500000000000000" charset="-122"/>
              </a:rPr>
              <a:t>外部因素待验证</a:t>
            </a:r>
            <a:endParaRPr sz="14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7754112" y="4754880"/>
            <a:ext cx="3383280" cy="51206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183B56"/>
                </a:solidFill>
                <a:latin typeface="Noto Sans CJK SC" panose="020B0500000000000000" charset="-122"/>
              </a:rPr>
              <a:t>天气、POI、轨道接驳可能相关，但尚未融合验证。</a:t>
            </a:r>
            <a:endParaRPr sz="13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结论与改进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已完成基线对比与误差定位，泛化能力仍需验证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本项目已交付：数据处理、30 分钟借还预测、时间 / 空间结果分析与可运行代码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课程汇报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14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85800" y="1938528"/>
            <a:ext cx="3502152" cy="1874519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130552"/>
            <a:ext cx="59436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087E8B"/>
                </a:solidFill>
                <a:latin typeface="Noto Sans CJK SC" panose="020B0500000000000000" charset="-122"/>
              </a:rPr>
              <a:t>01</a:t>
            </a:r>
            <a:endParaRPr sz="21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63624" y="2130552"/>
            <a:ext cx="23317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需求规律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3054096" cy="7680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周一早高峰占比更高；当前仅一个完整高量周日和周一。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07992" y="1938528"/>
            <a:ext cx="3502152" cy="1874519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59" y="2130552"/>
            <a:ext cx="59436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087E8B"/>
                </a:solidFill>
                <a:latin typeface="Noto Sans CJK SC" panose="020B0500000000000000" charset="-122"/>
              </a:rPr>
              <a:t>02</a:t>
            </a:r>
            <a:endParaRPr sz="21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85816" y="2130552"/>
            <a:ext cx="23317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模型效果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27448" y="2743200"/>
            <a:ext cx="3054096" cy="7680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Transformer 优于历史平均；昨日同期仍略优。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330183" y="1938528"/>
            <a:ext cx="3502152" cy="1874519"/>
          </a:xfrm>
          <a:prstGeom prst="roundRect">
            <a:avLst>
              <a:gd name="adj" fmla="val 12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31352" y="2130552"/>
            <a:ext cx="59436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087E8B"/>
                </a:solidFill>
                <a:latin typeface="Noto Sans CJK SC" panose="020B0500000000000000" charset="-122"/>
              </a:rPr>
              <a:t>03</a:t>
            </a:r>
            <a:endParaRPr sz="21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208008" y="2130552"/>
            <a:ext cx="233172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空间误差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49640" y="2743200"/>
            <a:ext cx="3054096" cy="7680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高需求网格绝对误差更大；早高峰 MAE 最高。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13232" y="4361688"/>
            <a:ext cx="10844784" cy="1051560"/>
          </a:xfrm>
          <a:prstGeom prst="roundRect">
            <a:avLst>
              <a:gd name="adj" fmla="val 12000"/>
            </a:avLst>
          </a:prstGeom>
          <a:solidFill>
            <a:srgbClr val="DD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544568"/>
            <a:ext cx="102870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02A43"/>
                </a:solidFill>
                <a:latin typeface="Noto Sans CJK SC" panose="020B0500000000000000" charset="-122"/>
              </a:rPr>
              <a:t>下一步：连续多周数据 + 训练期内选区 + 多滚动起点评估</a:t>
            </a:r>
            <a:endParaRPr sz="17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69264" y="4992624"/>
            <a:ext cx="1028700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183B56"/>
                </a:solidFill>
                <a:latin typeface="Noto Sans CJK SC" panose="020B0500000000000000" charset="-122"/>
              </a:rPr>
              <a:t>再检验持久性基线，并融合天气、POI或显式空间结构。</a:t>
            </a:r>
            <a:endParaRPr sz="14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22960" y="5769864"/>
            <a:ext cx="10515600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777"/>
                </a:solidFill>
                <a:latin typeface="Noto Sans CJK SC" panose="020B0500000000000000" charset="-122"/>
              </a:rPr>
              <a:t>代码入口：src/aggregate_demand.py · src/train_transformer.py · src/train_lstm.py</a:t>
            </a:r>
            <a:endParaRPr sz="13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87E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74320"/>
            <a:ext cx="1078992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1">
                <a:solidFill>
                  <a:srgbClr val="087E8B"/>
                </a:solidFill>
                <a:latin typeface="Noto Sans CJK SC" panose="020B0500000000000000" charset="-122"/>
              </a:rPr>
              <a:t>附录  /  补充实验</a:t>
            </a:r>
            <a:endParaRPr sz="1000" b="1">
              <a:solidFill>
                <a:srgbClr val="087E8B"/>
              </a:solidFill>
              <a:latin typeface="Noto Sans CJK SC" panose="020B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1064240" cy="53035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900" b="1">
                <a:solidFill>
                  <a:srgbClr val="102A43"/>
                </a:solidFill>
                <a:latin typeface="Noto Sans CJK SC" panose="020B0500000000000000" charset="-122"/>
              </a:rPr>
              <a:t>高量段日期划分结果单独列示，不与主结果混比</a:t>
            </a:r>
            <a:endParaRPr sz="29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197864"/>
            <a:ext cx="10972800" cy="34747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777"/>
                </a:solidFill>
                <a:latin typeface="Noto Sans CJK SC" panose="020B0500000000000000" charset="-122"/>
              </a:rPr>
              <a:t>训练 62 窗 / 验证 16 窗 / 测试 69 窗；测试日期与主实验不同</a:t>
            </a:r>
            <a:endParaRPr sz="14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6510528"/>
            <a:ext cx="11128248" cy="10972"/>
          </a:xfrm>
          <a:prstGeom prst="rect">
            <a:avLst/>
          </a:prstGeom>
          <a:solidFill>
            <a:srgbClr val="D6E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583680"/>
            <a:ext cx="9144000" cy="16459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共享单车需求预测  ·  附录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82528" y="6574536"/>
            <a:ext cx="530352" cy="1828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spcAft>
                <a:spcPts val="500"/>
              </a:spcAft>
            </a:pPr>
            <a:r>
              <a:rPr sz="900" b="0">
                <a:solidFill>
                  <a:srgbClr val="526777"/>
                </a:solidFill>
                <a:latin typeface="Noto Sans CJK SC" panose="020B0500000000000000" charset="-122"/>
              </a:rPr>
              <a:t>15</a:t>
            </a:r>
            <a:endParaRPr sz="900" b="0">
              <a:solidFill>
                <a:srgbClr val="526777"/>
              </a:solidFill>
              <a:latin typeface="Noto Sans CJK SC" panose="020B0500000000000000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5840" y="1920240"/>
            <a:ext cx="3840480" cy="71323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1938528"/>
            <a:ext cx="3730752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模型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46320" y="1920240"/>
            <a:ext cx="2057400" cy="71323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01184" y="1938528"/>
            <a:ext cx="1947672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MAE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903720" y="1920240"/>
            <a:ext cx="2057400" cy="71323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58584" y="1938528"/>
            <a:ext cx="1947672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RMSE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961120" y="1920240"/>
            <a:ext cx="2194560" cy="71323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5984" y="1938528"/>
            <a:ext cx="2084831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Noto Sans CJK SC" panose="020B0500000000000000" charset="-122"/>
              </a:rPr>
              <a:t>WMAPE</a:t>
            </a:r>
            <a:endParaRPr sz="1500" b="1">
              <a:solidFill>
                <a:srgbClr val="FFFFFF"/>
              </a:solidFill>
              <a:latin typeface="Noto Sans CJK SC" panose="020B0500000000000000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005840" y="2633472"/>
            <a:ext cx="384048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2651760"/>
            <a:ext cx="371246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历史平均（原实现）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46320" y="2633472"/>
            <a:ext cx="2057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10328" y="2651760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231.73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903720" y="2633472"/>
            <a:ext cx="2057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67728" y="2651760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339.44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961120" y="2633472"/>
            <a:ext cx="2194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25128" y="2651760"/>
            <a:ext cx="2066543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98.44%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005840" y="3346704"/>
            <a:ext cx="3840480" cy="71323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" y="3364992"/>
            <a:ext cx="371246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昨日同期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846320" y="3346704"/>
            <a:ext cx="2057400" cy="71323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0328" y="3364992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124.36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903720" y="3346704"/>
            <a:ext cx="2057400" cy="71323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7728" y="3364992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203.91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961120" y="3346704"/>
            <a:ext cx="2194560" cy="713232"/>
          </a:xfrm>
          <a:prstGeom prst="rect">
            <a:avLst/>
          </a:prstGeom>
          <a:solidFill>
            <a:srgbClr val="F3F7FA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5128" y="3364992"/>
            <a:ext cx="2066543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52.83%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05840" y="4059935"/>
            <a:ext cx="384048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9848" y="4078223"/>
            <a:ext cx="371246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Transformer 残差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4846320" y="4059935"/>
            <a:ext cx="2057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10328" y="4078223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133.23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903720" y="4059935"/>
            <a:ext cx="205740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4078223"/>
            <a:ext cx="1929384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216.48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8961120" y="4059935"/>
            <a:ext cx="2194560" cy="713232"/>
          </a:xfrm>
          <a:prstGeom prst="rect">
            <a:avLst/>
          </a:prstGeom>
          <a:solidFill>
            <a:srgbClr val="FFFFFF"/>
          </a:solidFill>
          <a:ln>
            <a:solidFill>
              <a:srgbClr val="D6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5128" y="4078223"/>
            <a:ext cx="2066543" cy="67665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1500" b="0">
                <a:solidFill>
                  <a:srgbClr val="183B56"/>
                </a:solidFill>
                <a:latin typeface="Noto Sans CJK SC" panose="020B0500000000000000" charset="-122"/>
              </a:rPr>
              <a:t>56.60%</a:t>
            </a:r>
            <a:endParaRPr sz="1500" b="0">
              <a:solidFill>
                <a:srgbClr val="183B56"/>
              </a:solidFill>
              <a:latin typeface="Noto Sans CJK SC" panose="020B05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024128" y="4608576"/>
            <a:ext cx="10104120" cy="1024128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0160" y="4791456"/>
            <a:ext cx="9601200" cy="58521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Noto Sans CJK SC" panose="020B0500000000000000" charset="-122"/>
              </a:rPr>
              <a:t>此划分下 Transformer 同样未超过昨日同期。历史平均的回退值包含早期稀疏样本；该划分没有同版本 LSTM 结果。</a:t>
            </a:r>
            <a:endParaRPr sz="1500" b="1">
              <a:solidFill>
                <a:srgbClr val="102A43"/>
              </a:solidFill>
              <a:latin typeface="Noto Sans CJK SC" panose="020B05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3467</Words>
  <Application>WPS 演示</Application>
  <PresentationFormat>On-screen Show (4:3)</PresentationFormat>
  <Paragraphs>575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7" baseType="lpstr">
      <vt:lpstr>Arial</vt:lpstr>
      <vt:lpstr>宋体</vt:lpstr>
      <vt:lpstr>Wingdings</vt:lpstr>
      <vt:lpstr>Arial</vt:lpstr>
      <vt:lpstr>DejaVu Sans</vt:lpstr>
      <vt:lpstr>Noto Sans CJK SC</vt:lpstr>
      <vt:lpstr>Calibri</vt:lpstr>
      <vt:lpstr>宋体</vt:lpstr>
      <vt:lpstr>Noto Serif CJK SC</vt:lpstr>
      <vt:lpstr>微软雅黑</vt:lpstr>
      <vt:lpstr>Droid Sans Fallback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基于共享单车数据的交通需求预测</dc:title>
  <dc:creator>课程小组</dc:creator>
  <dc:description>generated using python-pptx</dc:description>
  <dc:subject>时空需求分析与30分钟短时预测</dc:subject>
  <cp:lastModifiedBy>robot</cp:lastModifiedBy>
  <cp:revision>2</cp:revision>
  <dcterms:created xsi:type="dcterms:W3CDTF">2026-10-22T06:03:34Z</dcterms:created>
  <dcterms:modified xsi:type="dcterms:W3CDTF">2026-10-22T06:03:34Z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E57C6CD2D163C73536A7D96A83C9A560_42</vt:lpwstr>
  </property>
  <property fmtid="{D5CDD505-2E9C-101B-9397-08002B2CF9AE}" pid="3" name="KSOProductBuildVer">
    <vt:lpwstr>2052-12.1.2.29183</vt:lpwstr>
  </property>
</Properties>
</file>